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01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800020"/>
                </a:solidFill>
                <a:latin typeface="Georgia"/>
              </a:defRPr>
            </a:pPr>
            <a:r>
              <a:t>Thermodynamic Foundations &amp; Mathematical Modeling of Heat Capacity (Cp vs. T) in Engineering Materials</a:t>
            </a:r>
          </a:p>
          <a:p>
            <a:pPr>
              <a:spcBef>
                <a:spcPts val="1000"/>
              </a:spcBef>
              <a:defRPr sz="1700">
                <a:solidFill>
                  <a:srgbClr val="1B2A4A"/>
                </a:solidFill>
                <a:latin typeface="Georgia"/>
              </a:defRPr>
            </a:pPr>
            <a:r>
              <a:t>A Solid-State Thermodynamic Investigation &amp; Multi-Class Database Formulation (230 Materials)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38912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3540"/>
                </a:solidFill>
                <a:latin typeface="Georgia"/>
              </a:defRPr>
            </a:pPr>
            <a:r>
              <a:t>Author: Student 1 (Group Member A)</a:t>
            </a:r>
          </a:p>
          <a:p>
            <a:pPr>
              <a:spcBef>
                <a:spcPts val="400"/>
              </a:spcBef>
              <a:defRPr sz="1200">
                <a:solidFill>
                  <a:srgbClr val="737D84"/>
                </a:solidFill>
                <a:latin typeface="Georgia"/>
              </a:defRPr>
            </a:pPr>
            <a:r>
              <a:t>Specialization: Chemical Metallurgy, Quantum Vibrational Physics &amp; Thermodynamic Data Curation</a:t>
            </a:r>
          </a:p>
          <a:p>
            <a:pPr>
              <a:spcBef>
                <a:spcPts val="400"/>
              </a:spcBef>
              <a:defRPr sz="1100">
                <a:solidFill>
                  <a:srgbClr val="737D84"/>
                </a:solidFill>
                <a:latin typeface="Georgia"/>
              </a:defRPr>
            </a:pPr>
            <a:r>
              <a:t>Course: Materials Thermodynamics and Computational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00020"/>
                </a:solidFill>
                <a:latin typeface="Georgia"/>
              </a:defRPr>
            </a:pPr>
            <a:r>
              <a:t>§1.0  Solid-State Physics of Heat Storage in Crystalline Matter</a:t>
            </a:r>
          </a:p>
          <a:p>
            <a:pPr>
              <a:spcBef>
                <a:spcPts val="300"/>
              </a:spcBef>
              <a:defRPr sz="1200" i="1">
                <a:solidFill>
                  <a:srgbClr val="737D84"/>
                </a:solidFill>
                <a:latin typeface="Georgia"/>
              </a:defRPr>
            </a:pPr>
            <a:r>
              <a:t>Phonon dispersion, quantized lattice vibrations, and thermal energy partition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Microscopic Phonon Mechanisms: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Thermodynamic Definition: Specific heat capacity at constant pressure is the temperature derivative of enthalpy: Cp = (dH/dT)p = T*(dS/dT)p.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Quantized Lattice Vibrations (Phonons): Thermal energy in dielectric solids is stored via quantized elastic waves across 3N vibrational degrees of freedom.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Einstein Model (Optical Modes): Assumes N independent oscillators vibrating at single frequency omega_E. Explains high-T saturation but fails at low T.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Debye Model (Acoustic Phonons): Incorporates continuum wave propagation up to cutoff frequency omega_D = kB*theta_D / hbar.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Debye T^3 Low-Temperature Law: At cryogenic temperatures (T &lt;&lt; theta_D), Cv ~ (12 pi^4 / 5) N kB (T / theta_D)^3.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High-Temperature &amp; Thermodynamic Relations: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Dulong-Petit Classical Limit: At elevated temperatures (T &gt;&gt; theta_D), equipartition yields Cv,molar -&gt; 3R ~ 24.94 J/(mol*K) per gram-atom.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Cp vs. Cv Thermodynamic Dilation:</a:t>
            </a:r>
            <a:br/>
            <a:r>
              <a:t>  Cp - Cv = (V * beta^2 * T) / kappa_T</a:t>
            </a:r>
            <a:br/>
            <a:r>
              <a:t>  where beta = volume expansion, kappa_T = isothermal compressibility.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Lattice Anharmonicity: At temperatures approaching Tm, cubic and quartic lattice potential terms cause Cp to surpass classical 3R.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Kopp-Neumann Additivity Rule: For multi-component stoichiometric compounds (AxBy), total molar heat capacity approximates:</a:t>
            </a:r>
            <a:br/>
            <a:r>
              <a:t>  Cp(AxBy) ~ x*Cp(A) + y*Cp(B).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00020"/>
                </a:solidFill>
                <a:latin typeface="Georgia"/>
              </a:defRPr>
            </a:pPr>
            <a:r>
              <a:t>§2.0  Electronic &amp; Magnetic Spin Contributions to Cp</a:t>
            </a:r>
          </a:p>
          <a:p>
            <a:pPr>
              <a:spcBef>
                <a:spcPts val="300"/>
              </a:spcBef>
              <a:defRPr sz="1200" i="1">
                <a:solidFill>
                  <a:srgbClr val="737D84"/>
                </a:solidFill>
                <a:latin typeface="Georgia"/>
              </a:defRPr>
            </a:pPr>
            <a:r>
              <a:t>Sommerfeld coefficient, magnetic ordering, and second-order phase transitions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Electronic Heat Capacity in Metals (Cel):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Free Electron Fermi Gas (Sommerfeld Theory): Conduction electrons near Fermi level undergo thermal excitation:</a:t>
            </a:r>
            <a:br/>
            <a:r>
              <a:t>  Cel = gamma * T = (pi^2 / 3) * D(EF) * kB^2 * T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Cryogenic Dominance: At T &lt; 10 K, phonon contribution (~T^3) decays faster than linear electronic term (~T):</a:t>
            </a:r>
            <a:br/>
            <a:r>
              <a:t>  Ctotal = gamma*T + beta*T^3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Transition Metal Electronic Density: Transition metals with high density of d-states at EF exhibit elevated gamma values:</a:t>
            </a:r>
            <a:br/>
            <a:r>
              <a:t>  • Fe: gamma = 4.98 mJ/(mol*K^2)</a:t>
            </a:r>
            <a:br/>
            <a:r>
              <a:t>  • Ti: gamma = 3.35 mJ/(mol*K^2)</a:t>
            </a:r>
            <a:br/>
            <a:r>
              <a:t>  • Al: gamma = 1.35 mJ/(mol*K^2)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</a:defRPr>
            </a:pPr>
            <a:r>
              <a:t>Magnetic Phase Transitions (Cmag):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Lambda (Lambda) Anomalies: Second-order ferromagnet-to-paramagnet phase changes exhibit characteristic lambda-shaped Cp peaks due to spin disordering.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Curie Point in Pure Iron (alpha-Fe):</a:t>
            </a:r>
            <a:br/>
            <a:r>
              <a:t>  Curie transition occurs at Tc = 1042 K, where Cp peaks sharply before returning to normal paramagnetic slope.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Curie Point in Pure Nickel:</a:t>
            </a:r>
            <a:br/>
            <a:r>
              <a:t>  Ni undergoes ferromagnetic transition at Tc = 631 K with excess magnetic entropy Delta Smag = R*ln(2S+1).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Antiferromagnetic Transitions: Cr (Neel point TN = 311 K) and Hematite Fe2O3 (Morin transition) display subtle spin-flip anomalies.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00020"/>
                </a:solidFill>
                <a:latin typeface="Georgia"/>
              </a:defRPr>
            </a:pPr>
            <a:r>
              <a:t>§3.0  Mathematical Parameterization: NIST Shomate vs. Empirical Polynomials</a:t>
            </a:r>
          </a:p>
          <a:p>
            <a:pPr>
              <a:spcBef>
                <a:spcPts val="300"/>
              </a:spcBef>
              <a:defRPr sz="1200" i="1">
                <a:solidFill>
                  <a:srgbClr val="737D84"/>
                </a:solidFill>
                <a:latin typeface="Georgia"/>
              </a:defRPr>
            </a:pPr>
            <a:r>
              <a:t>Formulation comparison, regression bounds, and thermodynamic 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NIST Shomate 5-Parameter Model:</a:t>
            </a:r>
          </a:p>
          <a:p>
            <a:pPr>
              <a:spcBef>
                <a:spcPts val="500"/>
              </a:spcBef>
              <a:defRPr sz="1200" b="1">
                <a:solidFill>
                  <a:srgbClr val="1B2A4A"/>
                </a:solidFill>
                <a:latin typeface="Georgia"/>
              </a:defRPr>
            </a:pPr>
            <a:r>
              <a:t>Cp(t) = A + B*t + C*t^2 + D*t^3 + E / (t^2)</a:t>
            </a:r>
            <a:br/>
            <a:r>
              <a:t>where t = T / 1000 K, Cp in J/(mol*K)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Gold Standard for Pure Compounds: Used throughout NIST Chemistry WebBook and JANAF Tables for elements, oxides, halides, and carbides.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5-Degree Freedom: Inverse quadratic term E/t^2 captures steep low-temperature slope, while cubic terms fit high-T anharmonic curvature.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Calibrated Stability: Rigorously parameterised within discrete phase intervals [Tmin, Tmax] to preserve Gibbs free energy convexity.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Empirical Polynomial &amp; Maier-Kelley Models:</a:t>
            </a:r>
          </a:p>
          <a:p>
            <a:pPr>
              <a:spcBef>
                <a:spcPts val="500"/>
              </a:spcBef>
              <a:defRPr sz="1200" b="1">
                <a:solidFill>
                  <a:srgbClr val="1B2A4A"/>
                </a:solidFill>
                <a:latin typeface="Georgia"/>
              </a:defRPr>
            </a:pPr>
            <a:r>
              <a:t>Maier-Kelley: Cp(T) = a + b*10^-3*T + c*10^5*T^-2</a:t>
            </a:r>
            <a:br/>
            <a:r>
              <a:t>High-Order Poly: Cp(T) = c0 + c1*T + c2*T^2 + c3*T^3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Engineering Alloy Systems: Essential for multi-phase commercial alloys (SS 304, Ti-6Al-4V, Inconel 718) lacking distinct molecular stoichiometry.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Polymer Macromolecules: Direct fit in specific units (J/kg*K) accommodates broad molecular weight polydispersity in thermoplastics.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Boundary Constraint Requirement: Empirical polynomials must never be evaluated outside [Tmin, Tmax] due to unconstrained cubic divergence.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00020"/>
                </a:solidFill>
                <a:latin typeface="Georgia"/>
              </a:defRPr>
            </a:pPr>
            <a:r>
              <a:t>§4.0  Calculus of Enthalpy &amp; Entropy Integrations</a:t>
            </a:r>
          </a:p>
          <a:p>
            <a:pPr>
              <a:spcBef>
                <a:spcPts val="300"/>
              </a:spcBef>
              <a:defRPr sz="1200" i="1">
                <a:solidFill>
                  <a:srgbClr val="737D84"/>
                </a:solidFill>
                <a:latin typeface="Georgia"/>
              </a:defRPr>
            </a:pPr>
            <a:r>
              <a:t>Exact closed-form thermodynamic integrals from calibrated Cp(T) equations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Enthalpy Function H(T) Derivation:</a:t>
            </a:r>
          </a:p>
          <a:p>
            <a:pPr>
              <a:spcBef>
                <a:spcPts val="400"/>
              </a:spcBef>
              <a:defRPr sz="1100" b="1">
                <a:solidFill>
                  <a:srgbClr val="1B2A4A"/>
                </a:solidFill>
                <a:latin typeface="Georgia"/>
              </a:defRPr>
            </a:pPr>
            <a:r>
              <a:t>H(T) - H(298.15) = integral [ Cp(T) dT ] from 298.15 to T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Analytical Shomate Enthalpy Integral (kJ/mol):</a:t>
            </a:r>
            <a:br/>
            <a:r>
              <a:t>  H(t) - H_298 = A*t + B*(t^2)/2 + C*(t^3)/3 + D*(t^4)/4 - E/t + F - H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Thermochemical Significance: Quantifies absolute thermal energy accumulated in material from standard reference state (298.15 K).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Sensible Heat Sinks: Total sensible heat absorption capacity directly dictates the thermal protection endurance in hypersonic re-entry tiles.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 b="1">
                <a:solidFill>
                  <a:srgbClr val="1B2A4A"/>
                </a:solidFill>
                <a:latin typeface="Georgia"/>
              </a:defRPr>
            </a:pPr>
            <a:r>
              <a:t>S(T) = S(298.15) + integral [ (Cp(T) / T) dT ] from 298.15 to T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Analytical Shomate Entropy Integral (J/(mol*K)):</a:t>
            </a:r>
            <a:br/>
            <a:r>
              <a:t>  S(t) = A*ln(t) + B*t + C*(t^2)/2 + D*(t^3)/3 - E/(2*t^2) + G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Gibbs Free Energy Evaluation: Combined with enthalpy, yields closed-form Gibbs free energy:</a:t>
            </a:r>
            <a:br/>
            <a:r>
              <a:t>  G(T) = H(T) - T*S(T)</a:t>
            </a:r>
          </a:p>
          <a:p>
            <a:pPr>
              <a:spcBef>
                <a:spcPts val="6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Phase Stability Criterion: Phase boundary equilibrium occurs when G_alpha(T) = G_beta(T), governing solid-state allotropic phase transitions.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00020"/>
                </a:solidFill>
                <a:latin typeface="Georgia"/>
              </a:defRPr>
            </a:pPr>
            <a:r>
              <a:t>§5.0  Thermodynamic Literature Curation &amp; Verification</a:t>
            </a:r>
          </a:p>
          <a:p>
            <a:pPr>
              <a:spcBef>
                <a:spcPts val="300"/>
              </a:spcBef>
              <a:defRPr sz="1200" i="1">
                <a:solidFill>
                  <a:srgbClr val="737D84"/>
                </a:solidFill>
                <a:latin typeface="Georgia"/>
              </a:defRPr>
            </a:pPr>
            <a:r>
              <a:t>Peer-reviewed calorimetry standards, experimental databases, and citation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200" b="1">
                <a:solidFill>
                  <a:srgbClr val="800020"/>
                </a:solidFill>
                <a:latin typeface="Georgia"/>
              </a:defRPr>
            </a:pPr>
            <a:r>
              <a:t>✔ NIST Chemistry WebBook &amp; NIST-JANAF Thermochemical Tables (Chase, 1998):</a:t>
            </a:r>
          </a:p>
          <a:p>
            <a:pPr>
              <a:spcBef>
                <a:spcPts val="100"/>
              </a:spcBef>
              <a:defRPr sz="1050">
                <a:solidFill>
                  <a:srgbClr val="2C3540"/>
                </a:solidFill>
                <a:latin typeface="Georgia"/>
              </a:defRPr>
            </a:pPr>
            <a:r>
              <a:t>   Primary source for pure elemental metals, stoichiometric oxides, halides, and standard semiconductors. Certified Shomate parameters derived from high-precision drop calorimetry and adiabatic calorimetry.</a:t>
            </a:r>
          </a:p>
          <a:p>
            <a:pPr>
              <a:spcBef>
                <a:spcPts val="500"/>
              </a:spcBef>
              <a:defRPr sz="1200" b="1">
                <a:solidFill>
                  <a:srgbClr val="800020"/>
                </a:solidFill>
                <a:latin typeface="Georgia"/>
              </a:defRPr>
            </a:pPr>
            <a:r>
              <a:t>✔ NASA Glenn Thermodynamic Database (NASA SP-4534, McBride et al.):</a:t>
            </a:r>
          </a:p>
          <a:p>
            <a:pPr>
              <a:spcBef>
                <a:spcPts val="100"/>
              </a:spcBef>
              <a:defRPr sz="1050">
                <a:solidFill>
                  <a:srgbClr val="2C3540"/>
                </a:solidFill>
                <a:latin typeface="Georgia"/>
              </a:defRPr>
            </a:pPr>
            <a:r>
              <a:t>   Source for aerospace ultra-high temperature ceramics (HfC, TaC, ZrB2, HfB2) and high-temperature propulsion materials.</a:t>
            </a:r>
          </a:p>
          <a:p>
            <a:pPr>
              <a:spcBef>
                <a:spcPts val="500"/>
              </a:spcBef>
              <a:defRPr sz="1200" b="1">
                <a:solidFill>
                  <a:srgbClr val="800020"/>
                </a:solidFill>
                <a:latin typeface="Georgia"/>
              </a:defRPr>
            </a:pPr>
            <a:r>
              <a:t>✔ I. Barin 'Thermochemical Data of Pure Substances' (VCH, 1995):</a:t>
            </a:r>
          </a:p>
          <a:p>
            <a:pPr>
              <a:spcBef>
                <a:spcPts val="100"/>
              </a:spcBef>
              <a:defRPr sz="1050">
                <a:solidFill>
                  <a:srgbClr val="2C3540"/>
                </a:solidFill>
                <a:latin typeface="Georgia"/>
              </a:defRPr>
            </a:pPr>
            <a:r>
              <a:t>   Authoritative metallurgical reference for transition metal silicides, intermetallics, and refractory oxides with verified enthalpy increments.</a:t>
            </a:r>
          </a:p>
          <a:p>
            <a:pPr>
              <a:spcBef>
                <a:spcPts val="500"/>
              </a:spcBef>
              <a:defRPr sz="1200" b="1">
                <a:solidFill>
                  <a:srgbClr val="800020"/>
                </a:solidFill>
                <a:latin typeface="Georgia"/>
              </a:defRPr>
            </a:pPr>
            <a:r>
              <a:t>✔ PoLyInfo (National Institute for Materials Science, NIMS Japan) &amp; ATHAS Database (Wunderlich):</a:t>
            </a:r>
          </a:p>
          <a:p>
            <a:pPr>
              <a:spcBef>
                <a:spcPts val="100"/>
              </a:spcBef>
              <a:defRPr sz="1050">
                <a:solidFill>
                  <a:srgbClr val="2C3540"/>
                </a:solidFill>
                <a:latin typeface="Georgia"/>
              </a:defRPr>
            </a:pPr>
            <a:r>
              <a:t>   Validated specific heat data for 30 macromolecular polymers spanning linear, branched, crosslinked, and fluorinated polymers.</a:t>
            </a:r>
          </a:p>
          <a:p>
            <a:pPr>
              <a:spcBef>
                <a:spcPts val="500"/>
              </a:spcBef>
              <a:defRPr sz="1200" b="1">
                <a:solidFill>
                  <a:srgbClr val="800020"/>
                </a:solidFill>
                <a:latin typeface="Georgia"/>
              </a:defRPr>
            </a:pPr>
            <a:r>
              <a:t>✔ SciGlass Database &amp; Schott / Corning Optical Glass Standards:</a:t>
            </a:r>
          </a:p>
          <a:p>
            <a:pPr>
              <a:spcBef>
                <a:spcPts val="100"/>
              </a:spcBef>
              <a:defRPr sz="1050">
                <a:solidFill>
                  <a:srgbClr val="2C3540"/>
                </a:solidFill>
                <a:latin typeface="Georgia"/>
              </a:defRPr>
            </a:pPr>
            <a:r>
              <a:t>   Comprehensive thermophysical properties for inorganic optical glasses, chalcogenides, and heavy metal fluorides.</a:t>
            </a:r>
          </a:p>
          <a:p>
            <a:pPr>
              <a:spcBef>
                <a:spcPts val="500"/>
              </a:spcBef>
              <a:defRPr sz="1200" b="1">
                <a:solidFill>
                  <a:srgbClr val="800020"/>
                </a:solidFill>
                <a:latin typeface="Georgia"/>
              </a:defRPr>
            </a:pPr>
            <a:r>
              <a:t>✔ ASM Materials Information Handbooks &amp; MIL-HDBK-5J / MIL-HDBK-17:</a:t>
            </a:r>
          </a:p>
          <a:p>
            <a:pPr>
              <a:spcBef>
                <a:spcPts val="100"/>
              </a:spcBef>
              <a:defRPr sz="1050">
                <a:solidFill>
                  <a:srgbClr val="2C3540"/>
                </a:solidFill>
                <a:latin typeface="Georgia"/>
              </a:defRPr>
            </a:pPr>
            <a:r>
              <a:t>   Calibrated specific heat polynomials for structural aircraft alloys (Al 7075-T6, Inconel 718, Ti-6Al-4V) and continuous fiber composites.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00020"/>
                </a:solidFill>
                <a:latin typeface="Georgia"/>
              </a:defRPr>
            </a:pPr>
            <a:r>
              <a:t>§6.0  Solid-State Bonding Taxonomy: Metals vs. Ceramics</a:t>
            </a:r>
          </a:p>
          <a:p>
            <a:pPr>
              <a:spcBef>
                <a:spcPts val="300"/>
              </a:spcBef>
              <a:defRPr sz="1200" i="1">
                <a:solidFill>
                  <a:srgbClr val="737D84"/>
                </a:solidFill>
                <a:latin typeface="Georgia"/>
              </a:defRPr>
            </a:pPr>
            <a:r>
              <a:t>Crystal lattice bonding, atomic packing, and molar vs. specific thermal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Metallic Lattice Characteristics: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Molar Equipartition: FCC/BCC metals (Al, Cu, Fe, Ni) possess close-packed metallic lattices with delocalized valence electrons, reaching Dulong-Petit (~25 J/mol*K) near 300 K.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Atomic Weight Scaling in Specific Heat (J/kg*K):</a:t>
            </a:r>
            <a:br/>
            <a:r>
              <a:t>  Specific heat is inversely proportional to atomic mass M_w:</a:t>
            </a:r>
            <a:br/>
            <a:r>
              <a:t>  • Beryllium (M_w=9): Cp = 1820 J/(kg*K)</a:t>
            </a:r>
            <a:br/>
            <a:r>
              <a:t>  • Aluminum (M_w=27): Cp = 896 J/(kg*K)</a:t>
            </a:r>
            <a:br/>
            <a:r>
              <a:t>  • Copper (M_w=63.5): Cp = 385 J/(kg*K)</a:t>
            </a:r>
            <a:br/>
            <a:r>
              <a:t>  • Tungsten (M_w=183.8): Cp = 132 J/(kg*K)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Curie Transitions: Magnetic ordering in Fe (1042 K) and Ni (631 K) introduces sharp lambda-peaks.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Ceramic &amp; Covalent Network Oxides: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Deep Potential Wells &amp; High theta_D: Strong ionic/covalent bonds (Al2O3, SiC, B4C) yield high Debye temperatures (&gt; 800 - 1200 K), delaying classical saturation.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Kopp-Neumann Atomic Count Scaling:</a:t>
            </a:r>
            <a:br/>
            <a:r>
              <a:t>  • Al2O3 (5 atoms): Cp ~ 5 * 3R = 124 J/(mol*K) at high T</a:t>
            </a:r>
            <a:br/>
            <a:r>
              <a:t>  • Fe2O3 (5 atoms): Cp ~ 125 J/(mol*K)</a:t>
            </a:r>
            <a:br/>
            <a:r>
              <a:t>  • BaTiO3 (5 atoms): Cp ~ 120 J/(mol*K)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Structural Retention: Covalent directional bonding resists lattice softening up to ultra-high temperatures (&gt; 2000 K).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00020"/>
                </a:solidFill>
                <a:latin typeface="Georgia"/>
              </a:defRPr>
            </a:pPr>
            <a:r>
              <a:t>§7.0  Polymers, Amorphous Glasses &amp; Phase Transformations</a:t>
            </a:r>
          </a:p>
          <a:p>
            <a:pPr>
              <a:spcBef>
                <a:spcPts val="300"/>
              </a:spcBef>
              <a:defRPr sz="1200" i="1">
                <a:solidFill>
                  <a:srgbClr val="737D84"/>
                </a:solidFill>
                <a:latin typeface="Georgia"/>
              </a:defRPr>
            </a:pPr>
            <a:r>
              <a:t>Glass transitions (Tg), soft phonon modes, and allotropic phase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Macromolecular Polymers &amp; Glasses: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Light Atomic Framework: Dominated by lightweight atoms (C, H, O, N), polymers exhibit exceptionally high specific heat capacities (1000 - 2200 J/kg*K).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Glass Transition (Tg) Step Discontinuity: At Tg, conformational chain mobility unfreezes, causing a sharp step increase in Cp (Delta Cp ~ 0.2 - 0.5 J/g*K).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Amorphous Silicates ('Boson Peak'): Disordered vitreous network introduces excess low-frequency vibrational states, elevating low-T Cp above quartz.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Solid-State Allotropic Phase Changes: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Displacive alpha-beta Quartz Transition:</a:t>
            </a:r>
            <a:br/>
            <a:r>
              <a:t>  Occurs at 847 K (574 C) via tetrahedral tilting without bond breakage, producing a sharp localized Cp surge.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Titanium Allotropic Transformation:</a:t>
            </a:r>
            <a:br/>
            <a:r>
              <a:t>  HCP alpha-Ti transforms to BCC beta-Ti at 1155 K, accompanied by an enthalpy of transformation Delta Htrans.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Zirconia Martensitic Transition:</a:t>
            </a:r>
            <a:br/>
            <a:r>
              <a:t>  Monoclinic-to-tetragonal phase transformation at 1478 K limits single-equation polynomial validity.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00020"/>
                </a:solidFill>
                <a:latin typeface="Georgia"/>
              </a:defRPr>
            </a:pPr>
            <a:r>
              <a:t>§8.0  Thermodynamic Database Schema &amp; Validity Boundaries</a:t>
            </a:r>
          </a:p>
          <a:p>
            <a:pPr>
              <a:spcBef>
                <a:spcPts val="300"/>
              </a:spcBef>
              <a:defRPr sz="1200" i="1">
                <a:solidFill>
                  <a:srgbClr val="737D84"/>
                </a:solidFill>
                <a:latin typeface="Georgia"/>
              </a:defRPr>
            </a:pPr>
            <a:r>
              <a:t>Data structure specification, unit normalization, and polynomial boundary enforcement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Thermodynamic JSON Schema:</a:t>
            </a:r>
          </a:p>
          <a:p>
            <a:pPr>
              <a:spcBef>
                <a:spcPts val="400"/>
              </a:spcBef>
              <a:defRPr sz="950">
                <a:solidFill>
                  <a:srgbClr val="2C3540"/>
                </a:solidFill>
                <a:latin typeface="Consolas"/>
              </a:defRPr>
            </a:pPr>
            <a:r>
              <a:t>{</a:t>
            </a:r>
            <a:br/>
            <a:r>
              <a:t>  "id": "met_01",</a:t>
            </a:r>
            <a:br/>
            <a:r>
              <a:t>  "name": "Aluminum",</a:t>
            </a:r>
            <a:br/>
            <a:r>
              <a:t>  "formula": "Al",</a:t>
            </a:r>
            <a:br/>
            <a:r>
              <a:t>  "category": "Metals and alloys",</a:t>
            </a:r>
            <a:br/>
            <a:r>
              <a:t>  "mw": 26.982,</a:t>
            </a:r>
            <a:br/>
            <a:r>
              <a:t>  "eq_type": "shomate",</a:t>
            </a:r>
            <a:br/>
            <a:r>
              <a:t>  "params": {</a:t>
            </a:r>
            <a:br/>
            <a:r>
              <a:t>    "A": 28.0892, "B": -5.4148,</a:t>
            </a:r>
            <a:br/>
            <a:r>
              <a:t>    "C": 8.5604,  "D": 3.4273,</a:t>
            </a:r>
            <a:br/>
            <a:r>
              <a:t>    "E": -0.2773</a:t>
            </a:r>
            <a:br/>
            <a:r>
              <a:t>  },</a:t>
            </a:r>
            <a:br/>
            <a:r>
              <a:t>  "T_min": 298.15, "T_max": 933.47,</a:t>
            </a:r>
            <a:br/>
            <a:r>
              <a:t>  "Cp_298": 24.35, "unit": "J/(mol*K)",</a:t>
            </a:r>
            <a:br/>
            <a:r>
              <a:t>  "source": "NIST WebBook / JANAF Tables"</a:t>
            </a:r>
            <a:br/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Boundary Enforcement Logic: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Extrapolation Divergence Hazard: Evaluating high-order Shomate or cubic polynomials above Tmax causes severe unphysical divergence (e.g. negative Cp).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Active Boundary Assertion: The database enforces strict validity checking [Tmin, Tmax] on every query.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Dimensional Conversion Parity: Double-precision unit conversion routines bridge molar J/(mol*K), specific J/(kg*K), engineering cal/(g*C), and imperial BTU/(lb*F).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00020"/>
                </a:solidFill>
                <a:latin typeface="Georgia"/>
              </a:defRPr>
            </a:pPr>
            <a:r>
              <a:t>§9.0  Summary &amp; Individual Contribution Statement</a:t>
            </a:r>
          </a:p>
          <a:p>
            <a:pPr>
              <a:spcBef>
                <a:spcPts val="300"/>
              </a:spcBef>
              <a:defRPr sz="1200" i="1">
                <a:solidFill>
                  <a:srgbClr val="737D84"/>
                </a:solidFill>
                <a:latin typeface="Georgia"/>
              </a:defRPr>
            </a:pPr>
            <a:r>
              <a:t>Student 1: Thermodynamic Theory, Mathematical Modeling &amp; Database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Key Project Outcomes: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✔ Synthesized, standardized, and validated 230 materials across 8 distinct engineering categories (exceeding the 200 requirement).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✔ Formulated rigorous mathematical models implementing NIST Shomate and high-order empirical polynomial functions.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✔ Established analytical enthalpy H(T) and entropy S(T) integration formulas for closed-form thermochemical calculations.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✔ Enforced rigorous temperature validity intervals [Tmin, Tmax] to eliminate extrapolation artifacts.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00020"/>
                </a:solidFill>
                <a:latin typeface="Georgia"/>
              </a:defRPr>
            </a:pPr>
            <a:r>
              <a:t>Student 1 Specific Contributions &amp; Skills: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Thermodynamic Data Extraction: Extracted raw Shomate &amp; polynomial coefficients from NIST WebBook, JANAF, NASA SP-4534, Barin, and PoLyInfo.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Mathematical Modeling: Formulated Cp(T) analytical calculation algorithms, Kopp-Neumann additivity models, and unit conversion equations.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Database Architecture: Designed the master JSON/CSV database schemas and validated data integrity across all 230 records.</a:t>
            </a:r>
          </a:p>
          <a:p>
            <a:pPr>
              <a:spcBef>
                <a:spcPts val="700"/>
              </a:spcBef>
              <a:defRPr sz="1100">
                <a:solidFill>
                  <a:srgbClr val="2C3540"/>
                </a:solidFill>
                <a:latin typeface="Georgia"/>
              </a:defRPr>
            </a:pPr>
            <a:r>
              <a:t>• Academic Presentation Author: Authored this presentation focusing on thermodynamic physics, mathematical modeling, and data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