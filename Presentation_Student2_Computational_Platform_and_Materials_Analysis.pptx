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4" r:id="rId5"/>
    <p:sldId id="263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059669"/>
                </a:solidFill>
                <a:latin typeface="Arial"/>
              </a:defRPr>
            </a:pPr>
            <a:r>
              <a:rPr dirty="0"/>
              <a:t>INTERACTIVE COMPUTATIONAL PLATFORM</a:t>
            </a:r>
          </a:p>
          <a:p>
            <a:pPr algn="ctr">
              <a:spcBef>
                <a:spcPts val="1600"/>
              </a:spcBef>
              <a:defRPr sz="3200" b="1">
                <a:solidFill>
                  <a:srgbClr val="0F172A"/>
                </a:solidFill>
                <a:latin typeface="Arial"/>
              </a:defRPr>
            </a:pPr>
            <a:r>
              <a:rPr dirty="0"/>
              <a:t>Cp Materials Explorer: Interactive Web Platform &amp; Engineering Applications</a:t>
            </a:r>
          </a:p>
          <a:p>
            <a:pPr algn="ctr">
              <a:spcBef>
                <a:spcPts val="1200"/>
              </a:spcBef>
              <a:defRPr sz="1600">
                <a:solidFill>
                  <a:srgbClr val="64748B"/>
                </a:solidFill>
                <a:latin typeface="Arial"/>
              </a:defRPr>
            </a:pPr>
            <a:r>
              <a:rPr dirty="0"/>
              <a:t>A zero-dependency interactive platform for real-time thermodynamic visualization, unit conversion, and multi-material engineering comparison.</a:t>
            </a:r>
          </a:p>
          <a:p>
            <a:pPr algn="ctr">
              <a:spcBef>
                <a:spcPts val="2800"/>
              </a:spcBef>
              <a:defRPr sz="1300" b="1">
                <a:solidFill>
                  <a:srgbClr val="1E293B"/>
                </a:solidFill>
                <a:latin typeface="Arial"/>
              </a:defRPr>
            </a:pPr>
            <a:r>
              <a:rPr dirty="0"/>
              <a:t>Presented by: </a:t>
            </a:r>
            <a:r>
              <a:rPr lang="en-US" dirty="0"/>
              <a:t>Darshiel Jain (25035023) </a:t>
            </a:r>
            <a:r>
              <a:rPr dirty="0"/>
              <a:t>(Platform Architecture, GUI &amp; Engineering Analysis Lead)</a:t>
            </a:r>
            <a:br>
              <a:rPr dirty="0"/>
            </a:br>
            <a:r>
              <a:rPr dirty="0"/>
              <a:t>Course: </a:t>
            </a:r>
            <a:r>
              <a:rPr lang="en-US" dirty="0"/>
              <a:t>MCR-202 </a:t>
            </a:r>
            <a:r>
              <a:rPr lang="en-US" sz="1300" dirty="0">
                <a:solidFill>
                  <a:srgbClr val="1E293B"/>
                </a:solidFill>
                <a:latin typeface="Arial"/>
              </a:rPr>
              <a:t>Thermodynamics of Materials </a:t>
            </a:r>
            <a:r>
              <a:rPr dirty="0"/>
              <a:t>|  Academic Year 202</a:t>
            </a:r>
            <a:r>
              <a:rPr lang="en-US" dirty="0"/>
              <a:t>6</a:t>
            </a:r>
            <a:r>
              <a:rPr dirty="0"/>
              <a:t>-202</a:t>
            </a:r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2560320" cy="3657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47857"/>
                </a:solidFill>
                <a:latin typeface="Arial"/>
              </a:defRPr>
            </a:pPr>
            <a:r>
              <a:t>PROBLEM &amp;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Why We Built an Interactive Web Tool</a:t>
            </a:r>
          </a:p>
          <a:p>
            <a:pPr>
              <a:spcBef>
                <a:spcPts val="300"/>
              </a:spcBef>
              <a:defRPr sz="1400">
                <a:solidFill>
                  <a:srgbClr val="64748B"/>
                </a:solidFill>
                <a:latin typeface="Arial"/>
              </a:defRPr>
            </a:pPr>
            <a:r>
              <a:t>Replacing slow handbook lookups with instant visual engineering decisions.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16636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DC2626"/>
                </a:solidFill>
              </a:defRPr>
            </a:pPr>
            <a:r>
              <a:t>❌ The Old Way (Manual Lookups)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Static Tables: Engineers spend hours digging through 500-page CRC handbooks for individual numbers.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Manual Interpolation: Calculating Cp at custom temperatures requires manual polynomial calculation by hand.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Hard to Compare: Comparing 5 materials simultaneously across 300 K to 1500 K is tedious and error-prone.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920240"/>
            <a:ext cx="516636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059669"/>
                </a:solidFill>
              </a:defRPr>
            </a:pPr>
            <a:r>
              <a:t>✨ Our Solution (Interactive Platform)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Instant Visual Graphs: Click any material or category and the full curve renders immediately.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Zero Installation: Built with standalone SVG vector technology that opens in any browser on any device.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Dynamic Ranking &amp; Export: Slide the temperature bar to rank materials in real time, and export directly to CSV.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897880"/>
            <a:ext cx="10728655" cy="594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059669"/>
                </a:solidFill>
                <a:latin typeface="Arial"/>
              </a:defRPr>
            </a:pPr>
            <a:r>
              <a:t>⚡ System Highlight: Our platform turns complex polynomial thermodynamics into an intuitive, zero-lag visual dashboard.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2560320" cy="3657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47857"/>
                </a:solidFill>
                <a:latin typeface="Arial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Platform Features &amp; Technical Design</a:t>
            </a:r>
          </a:p>
          <a:p>
            <a:pPr>
              <a:spcBef>
                <a:spcPts val="300"/>
              </a:spcBef>
              <a:defRPr sz="1400">
                <a:solidFill>
                  <a:srgbClr val="64748B"/>
                </a:solidFill>
                <a:latin typeface="Arial"/>
              </a:defRPr>
            </a:pPr>
            <a:r>
              <a:t>Engineered for speed, clarity, and zero external dependencies.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328416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📈 Vector SVG Engine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Zero Dependencies: No external chart libraries or CDNs needed; works completely offline.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Infinite Scaling: Vector graphics stay razor sharp on 4K monitors and mobile screens.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Hover Crosshair: Displays exact (T, Cp) coordinate numbers as you move your mouse over any curve.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920240"/>
            <a:ext cx="3328416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🔄 5-Unit Conversion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SI Standard: J/(kg·K) &amp; kJ/(kg·K) for standard scientific and physics calculations.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Imperial Units: Btu/(lb·°F) for American aerospace and mechanical engineering standards.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Molar &amp; CGS: J/(mol·K) for chemists and cal/(g·°C) for thermal engineers with instant Kelvin/Celsius toggle.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19872" y="1920240"/>
            <a:ext cx="3328416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🎯 Multi-Material Compare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Color-Coded Tags: Select multiple materials across classes with distinct vibrant colors.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Live Ranking Table: Drag the temperature slider to instantly sort materials from highest to lowest Cp.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One-Click CSV Export: Download active material datasets directly for finite element analysis in ANSYS or MATLAB.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897880"/>
            <a:ext cx="10728655" cy="594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059669"/>
                </a:solidFill>
                <a:latin typeface="Arial"/>
              </a:defRPr>
            </a:pPr>
            <a:r>
              <a:t>⚡ System Highlight: A clean, responsive interface engineered for students, educators, and practicing engineers.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E39F7A-ADD6-3524-FAA2-A95974021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670" y="0"/>
            <a:ext cx="86766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539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02DDE6-4091-FD18-3375-4F13FE97DC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8522"/>
            <a:ext cx="12192000" cy="5900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2415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2560320" cy="3657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47857"/>
                </a:solidFill>
                <a:latin typeface="Arial"/>
              </a:defRPr>
            </a:pPr>
            <a:r>
              <a:t>USER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4 Simple Steps to Analyze Any Material</a:t>
            </a:r>
          </a:p>
          <a:p>
            <a:pPr>
              <a:spcBef>
                <a:spcPts val="300"/>
              </a:spcBef>
              <a:defRPr sz="1400">
                <a:solidFill>
                  <a:srgbClr val="64748B"/>
                </a:solidFill>
                <a:latin typeface="Arial"/>
              </a:defRPr>
            </a:pPr>
            <a:r>
              <a:t>A quick walkthrough of the platform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251460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/>
            </a:pPr>
            <a:r>
              <a:t>🔍</a:t>
            </a:r>
          </a:p>
          <a:p>
            <a:pPr algn="ctr">
              <a:spcBef>
                <a:spcPts val="1000"/>
              </a:spcBef>
              <a:defRPr sz="1400" b="1">
                <a:solidFill>
                  <a:srgbClr val="0F172A"/>
                </a:solidFill>
              </a:defRPr>
            </a:pPr>
            <a:r>
              <a:t>Step 1: Filter &amp; Search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Use the search bar or category dropdown to find any of the 230 materials in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5576" y="1920240"/>
            <a:ext cx="251460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/>
            </a:pPr>
            <a:r>
              <a:t>🎨</a:t>
            </a:r>
          </a:p>
          <a:p>
            <a:pPr algn="ctr">
              <a:spcBef>
                <a:spcPts val="1000"/>
              </a:spcBef>
              <a:defRPr sz="1400" b="1">
                <a:solidFill>
                  <a:srgbClr val="0F172A"/>
                </a:solidFill>
              </a:defRPr>
            </a:pPr>
            <a:r>
              <a:t>Step 2: Select Materials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Click materials to add color-coded curves onto the interactive vector graph.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920240"/>
            <a:ext cx="251460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/>
            </a:pPr>
            <a:r>
              <a:t>🎛️</a:t>
            </a:r>
          </a:p>
          <a:p>
            <a:pPr algn="ctr">
              <a:spcBef>
                <a:spcPts val="1000"/>
              </a:spcBef>
              <a:defRPr sz="1400" b="1">
                <a:solidFill>
                  <a:srgbClr val="0F172A"/>
                </a:solidFill>
              </a:defRPr>
            </a:pPr>
            <a:r>
              <a:t>Step 3: Adjust &amp; Inspect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Hover to view exact data coordinates. Slide the temperature bar to check values at any temperature.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33688" y="1920240"/>
            <a:ext cx="251460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/>
            </a:pPr>
            <a:r>
              <a:t>💾</a:t>
            </a:r>
          </a:p>
          <a:p>
            <a:pPr algn="ctr">
              <a:spcBef>
                <a:spcPts val="1000"/>
              </a:spcBef>
              <a:defRPr sz="1400" b="1">
                <a:solidFill>
                  <a:srgbClr val="0F172A"/>
                </a:solidFill>
              </a:defRPr>
            </a:pPr>
            <a:r>
              <a:t>Step 4: Convert &amp; Export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Switch between 5 unit systems and click 'Export CSV' to save data for lab reports or simulations.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897880"/>
            <a:ext cx="10728655" cy="594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059669"/>
                </a:solidFill>
                <a:latin typeface="Arial"/>
              </a:defRPr>
            </a:pPr>
            <a:r>
              <a:t>⚡ System Highlight: Intuitive four-step workflow lets users find, compare, and export data in less than 30 seconds.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2560320" cy="3657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47857"/>
                </a:solidFill>
                <a:latin typeface="Arial"/>
              </a:defRPr>
            </a:pPr>
            <a:r>
              <a:t>CASE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Real-World Engineering Application 1</a:t>
            </a:r>
          </a:p>
          <a:p>
            <a:pPr>
              <a:spcBef>
                <a:spcPts val="300"/>
              </a:spcBef>
              <a:defRPr sz="1400">
                <a:solidFill>
                  <a:srgbClr val="64748B"/>
                </a:solidFill>
                <a:latin typeface="Arial"/>
              </a:defRPr>
            </a:pPr>
            <a:r>
              <a:t>Comparing materials for aerospace thermal protection and electronics cooling.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16636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🚀 Spacecraft Heat Shields (UHTCs)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High Temperature Stability: Materials like Hafnium Diboride (HfB2) and Zirconium Carbide (ZrC) survive beyond 2500 K during atmospheric re-entry.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Thermal Mass Absorption: High specific heat allows the shield to absorb extreme friction heat without melting.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Platform Insight: Our tool shows that Refractory Borides maintain steady, flat Cp curves at extreme temperatures, preventing thermal shock.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920240"/>
            <a:ext cx="516636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💻 Microchip Heat Sinks (Copper vs Diamond)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Transient Heat Dissipation: Copper (385 J/kg·K) is standard for heatsinks, but Diamond synthetic substrates are replacing it in high-power GaN radar chips.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Rapid Temperature Spikes: Diamond's steep Cp rise above 300 K prevents thermal runaway in high-frequency semiconductors.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Platform Insight: Comparing Copper, Silicon, and GaN simultaneously reveals the exact crossover temperatures for thermal matching.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897880"/>
            <a:ext cx="10728655" cy="594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059669"/>
                </a:solidFill>
                <a:latin typeface="Arial"/>
              </a:defRPr>
            </a:pPr>
            <a:r>
              <a:t>⚡ System Highlight: Selecting the right material depends on both thermal conductivity and temperature-dependent heat capacity.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2560320" cy="3657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47857"/>
                </a:solidFill>
                <a:latin typeface="Arial"/>
              </a:defRPr>
            </a:pPr>
            <a:r>
              <a:t>CASE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Real-World Engineering Application 2</a:t>
            </a:r>
          </a:p>
          <a:p>
            <a:pPr>
              <a:spcBef>
                <a:spcPts val="300"/>
              </a:spcBef>
              <a:defRPr sz="1400">
                <a:solidFill>
                  <a:srgbClr val="64748B"/>
                </a:solidFill>
                <a:latin typeface="Arial"/>
              </a:defRPr>
            </a:pPr>
            <a:r>
              <a:t>Thermal safety in lithium-ion batteries and high-performance polymers.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16636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🔋 EV Battery Safety &amp; Solid Electrolytes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Thermal Runaway Prevention: Next-gen solid-state batteries use LLZO and LGPS solid electrolytes.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Buffer Capacity: Accurate Cp values are required in battery management software (BMS) to predict internal temperature rise during fast charging.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Platform Insight: Allows EV engineers to simulate battery heat generation under aggressive 15-minute fast-charging profiles.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920240"/>
            <a:ext cx="516636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🏎️ Lightweight High-Tech Polymers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High Specific Heat: Polymers like PEEK and PTFE have high Cp (1000 - 2000 J/kg·K) due to lightweight carbon-hydrogen bonds.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Automotive &amp; Aerospace Weight Reduction: High heat absorption per kilogram makes polymer composites ideal for lightweight thermal insulation barriers.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Platform Insight: Engineers can quickly confirm the glass transition temperature limit before polymer softening occurs.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897880"/>
            <a:ext cx="10728655" cy="594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059669"/>
                </a:solidFill>
                <a:latin typeface="Arial"/>
              </a:defRPr>
            </a:pPr>
            <a:r>
              <a:t>⚡ System Highlight: High-Cp materials act as thermal buffers, preventing rapid temperature spikes in sensitive devices.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2560320" cy="3657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47857"/>
                </a:solidFill>
                <a:latin typeface="Arial"/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rPr dirty="0"/>
              <a:t>Summary &amp; Personal Learnings</a:t>
            </a:r>
          </a:p>
          <a:p>
            <a:pPr>
              <a:spcBef>
                <a:spcPts val="300"/>
              </a:spcBef>
              <a:defRPr sz="1400">
                <a:solidFill>
                  <a:srgbClr val="64748B"/>
                </a:solidFill>
                <a:latin typeface="Arial"/>
              </a:defRPr>
            </a:pPr>
            <a:r>
              <a:rPr dirty="0"/>
              <a:t>Reflecting on computational platform engineering and UX design.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523596"/>
            <a:ext cx="3328416" cy="5120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rPr dirty="0"/>
              <a:t>💻 Web &amp; GUI Engineering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Mastered standalone SVG vector visualization for instant, responsive graph rendering.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Created an intuitive light-themed user interface that simplifies complex material comparisons.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Implemented seamless 5-unit thermal conversion and Kelvin/Celsius toggles.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1639" y="1523598"/>
            <a:ext cx="3328416" cy="5120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⚙️ Practical Engineering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Bridged theoretical thermodynamic equations with real-world material selection problems.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Analyzed high-temperature aerospace UHTCs, semiconductor heat spreaders, and battery electrolytes.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Added one-click CSV dataset export for seamless integration into FEA simulation software.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1584" y="1523597"/>
            <a:ext cx="3328416" cy="5120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rPr dirty="0"/>
              <a:t>🚀 Future Vision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Plan to expand database with thermal conductivity (k) and thermal expansion (α) for full thermal analysis.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Add automated transient 1D heat conduction solvers directly inside the browser.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Open-source the platform as a free interactive teaching tool for university thermodynamics courses.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1097</Words>
  <Application>Microsoft Office PowerPoint</Application>
  <PresentationFormat>Widescreen</PresentationFormat>
  <Paragraphs>87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Darshiel Jain</cp:lastModifiedBy>
  <cp:revision>2</cp:revision>
  <dcterms:created xsi:type="dcterms:W3CDTF">2013-01-27T09:14:16Z</dcterms:created>
  <dcterms:modified xsi:type="dcterms:W3CDTF">2026-09-04T11:56:11Z</dcterms:modified>
  <cp:category/>
</cp:coreProperties>
</file>