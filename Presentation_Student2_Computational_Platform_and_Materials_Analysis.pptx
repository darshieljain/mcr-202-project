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Calibri"/>
              </a:defRPr>
            </a:pPr>
            <a:r>
              <a:t>Interactive Computational Platform &amp; Multi-Material Comparative Analysis of Cp(T) Behavior</a:t>
            </a:r>
          </a:p>
          <a:p>
            <a:pPr>
              <a:spcBef>
                <a:spcPts val="1000"/>
              </a:spcBef>
              <a:defRPr sz="1800">
                <a:solidFill>
                  <a:srgbClr val="1E293B"/>
                </a:solidFill>
                <a:latin typeface="Calibri"/>
              </a:defRPr>
            </a:pPr>
            <a:r>
              <a:t>GUI Engineering, Real-Time Plotting Engine &amp; Engineering Application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Calibri"/>
              </a:defRPr>
            </a:pPr>
            <a:r>
              <a:t>Prepared by: Student 2 (Group Member B)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Specialization: Interactive Web Systems, Canvas Graphic Algorithms, Materials Selection &amp; Video Walkthrough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Course: Materials Thermodynamics and Computation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[SYS-01]  Computational Platform Architecture &amp; Technology Stack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Client-side high-performance computing, standalone zero-dependency web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Software System Architecture: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Zero-Dependency Standalone Runtime: Self-contained HTML5/JavaScript application (index.html) requiring no external CDN scripts, node modules, or server processes.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Embedded Memory Database: The complete 230-material JSON dataset is loaded directly in browser memory, enabling sub-millisecond query execution.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Built-in HTML5 Canvas Renderer: Native 2D canvas plotting engine with double-buffered rendering, dynamic grid scaling, and zero network latency.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Companion Streamlit Python Dashboard: Companion data science platform (app.py) featuring Plotly integration for Python computational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Execution Pipeline &amp; Event Loop: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1. Event Dispatcher: Listens to user inputs (search, category select, temp range, unit toggles, reference T slider).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2. State Manager: Maintains active selected material IDs, current temperature unit (K/C), and target specific heat unit.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3. Calculation Dispatcher: Polymorphic solver dynamically executes Shomate or polynomial algorithms across 100 discrete sampling points.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4. Viewport Renderer: Re-renders canvas gridlines, curve paths, warning alerts, ranking table, and citation cards at 60 FPS.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[GUI-02]  Canvas Plotting Algorithms &amp; Coordinate Mapping Math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Mathematical transformation of physical thermodynamic coordinates to viewport canvas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Coordinate Transform Mathematics: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X-Axis Mapping Formula:</a:t>
            </a:r>
            <a:br/>
            <a:r>
              <a:t>  X_canvas = Pad_left + ((T_disp - X_min) / (X_max - X_min)) * Width_plot</a:t>
            </a:r>
            <a:br/>
            <a:r>
              <a:t>  Linearly maps temperature to pixel domain.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Y-Axis Inversion Mapping Formula:</a:t>
            </a:r>
            <a:br/>
            <a:r>
              <a:t>  Y_canvas = Pad_top + Height_plot - ((Cp - Y_min) / (Y_max - Y_min)) * Height_plot</a:t>
            </a:r>
            <a:br/>
            <a:r>
              <a:t>  Accounts for inverted computer graphics Y-axis.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High-DPI Display Scaling:</a:t>
            </a:r>
            <a:br/>
            <a:r>
              <a:t>  Canvas scales by window.devicePixelRatio (2x on Retina/4K displays) to prevent line blurriness.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Interactive Raycasting &amp; Hover Data Tips: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Mouse Event Raycasting: Tracks mousemove coordinates (e.clientX, e.clientY) and reverses mapping to calculate exact hover temperature T_hover.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Real-Time Evaluation: Dynamically evaluates Cp(T_hover) across all active curves simultaneously.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HTML Tooltip Injection: Renders floating tooltip box tracking cursor position with formatted material names, formulas, and numeric coordinates.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Viewport Auto-Resizing: Window resize listener recalculates canvas dimensions dynamically on display geometry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[SYS-03]  Interactive Workflows &amp; Multi-Unit Conversion Engine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Dimensional analysis routines, category filtering, and preset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Interactive Control Workflows: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Fuzzy Search Filtering: Instant sub-millisecond substring matching querying material name, formula, or category simultaneously.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Active Tag Management: Visual color-coded tag tray allowing users to inspect active materials, toggle visibility, or delete traces individually.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Quick Preset Buttons:</a:t>
            </a:r>
            <a:br/>
            <a:r>
              <a:t>  • 'Metals': Loads 6 benchmark metals</a:t>
            </a:r>
            <a:br/>
            <a:r>
              <a:t>  • 'Ceramics': Loads 6 structural ceramics</a:t>
            </a:r>
            <a:br/>
            <a:r>
              <a:t>  • 'Multi-Class': Loads 8 representative materials across all classes</a:t>
            </a:r>
            <a:br/>
            <a:r>
              <a:t>  • 'Clear': Flushes plotting tray in 1 click.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Multi-Unit Conversion Engine: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Specific vs. Molar Duality: Automated molecular weight normalization:</a:t>
            </a:r>
            <a:br/>
            <a:r>
              <a:t>  Cp_specific [J/(kg*K)] = (Cp_molar [J/(mol*K)] / M_w) * 1000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Dual Temperature Scaling: Converts Kelvin &lt;-&gt; Celsius with automated input field rescaling:</a:t>
            </a:r>
            <a:br/>
            <a:r>
              <a:t>  T [C] = T [K] - 273.15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5 Supported Units:</a:t>
            </a:r>
            <a:br/>
            <a:r>
              <a:t>  • J/(kg*K) [SI Specific]</a:t>
            </a:r>
            <a:br/>
            <a:r>
              <a:t>  • J/(mol*K) [SI Molar]</a:t>
            </a:r>
            <a:br/>
            <a:r>
              <a:t>  • kJ/(kg*K)</a:t>
            </a:r>
            <a:br/>
            <a:r>
              <a:t>  • cal/(g*C) [Metric Thermal]</a:t>
            </a:r>
            <a:br/>
            <a:r>
              <a:t>  • BTU/(lb*F) [Imperial Aerospace]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[SYS-04]  Dynamic Property Ranking &amp; Safety Warning Engine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Real-time sorting leaderboard and automated extrapolation boundary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Dynamic Reference T Ranking Engine: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Interactive Reference Slider: Real-time slider (100 K to 2500 K) allowing continuous variation of reference temperature Tref.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Array Sorting Algorithm: Dynamically evaluates Cp(Tref) across active materials and executes descending sort:</a:t>
            </a:r>
            <a:br/>
            <a:r>
              <a:t>  items.sort((a, b) =&gt; b.cp - a.cp)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Instant Leaderboard Rendering: Updates HTML table with Rank (#1, #2...), Material Name, Chemical Formula, and exact numeric Cp value in chosen unit.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Automated Extrapolation Warning Engine: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Range Assertion Algorithm: Checks current viewport temperature boundaries [tMin, tMax] against calibrated limits [m.T_min, m.T_max].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Visual Alert Trigger: If any plotted material extends outside verified bounds, an amber alert banner is dynamically rendered to alert the user.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Engineering Defense: Prevents students and engineers from making decisions based on unconstrained polynomial extrapolation artifacts.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[CASE-01]  Engineering Case Study 1: Aerospace Airframe Materials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Thermal inertia, heating rates, and material selection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Materials Compared: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Aluminum Alloy 7075-T6: Cp(298 K) = 960 J/(kg*K) [Valid: 273 - 750 K]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Titanium Ti-6Al-4V (Grade 5): Cp(298 K) = 526 J/(kg*K) [Valid: 298 - 1250 K]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Inconel 718 Superalloy: Cp(298 K) = 435 J/(kg*K) [Valid: 298 - 1300 K]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CFRP Carbon/Epoxy (60% vf): Cp(298 K) = 1100 J/(kg*K) [Valid: 200 - 450 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Engineering Selection Findings: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Thermal Inertia &amp; Temperature Rise Rate:</a:t>
            </a:r>
            <a:br/>
            <a:r>
              <a:t>  dT/dt = q_in / (rho * Cp * Volume)</a:t>
            </a:r>
            <a:br/>
            <a:r>
              <a:t>  Titanium and Inconel heat up &gt;2x faster than Aluminum for identical thermal flux due to low Cp.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Aerospace Skin Damping: High specific heat of CFRP provides advantageous thermal damping during short-duration aerodynamic heating surges.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High-Temperature Retention: Inconel 718 maintains structural stability up to 1300 K, while Al 7075 loses strength above 450 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[CASE-02]  Engineering Case Study 2: Gas Turbine Thermal Barrier Coatings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Multi-layer thermal insulation stack optimization in modern jet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TBC Architecture Layers: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Topcoat: 8YSZ (8 wt% Yttria-Stabilized Zirconia)</a:t>
            </a:r>
            <a:br/>
            <a:r>
              <a:t>  Cp ~ 520 J/(kg*K), k ~ 2.0 W/(m*K), stable to 2200 K.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Thermally Grown Oxide (TGO): Corundum Al2O3</a:t>
            </a:r>
            <a:br/>
            <a:r>
              <a:t>  Cp ~ 790 J/(kg*K), forms dense diffusion barrier.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Superalloy Substrate: Inconel 718 / 625 Core</a:t>
            </a:r>
            <a:br/>
            <a:r>
              <a:t>  Cp ~ 410 J/(kg*K), high creep resistance.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Thermal Diffusivity Analysis: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Thermal Diffusivity Synergy: alpha = k / (rho * Cp)</a:t>
            </a:r>
            <a:br/>
            <a:r>
              <a:t>  Low thermal conductivity combined with moderate volumetric heat capacity (rho*Cp) of YSZ suppresses transient heat penetration into turbine blades.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Thermal Expansion Match: Smooth monotonic Cp curve of Al2O3 TGO minimizes interfacial thermal fatigue stress during engine throttle acceleration cycles.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Phase Stability: 8YSZ prevents detrimental monoclinic phase transformation up to 1478 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[CASE-03]  Engineering Case Study 3: Hypersonic UHTC Leading Edges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Extreme enthalpy absorption and stagnation thermal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UHTC Materials Evaluated: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Hafnium Carbide (HfC): Tm = 4173 K, Cp(298 K) = 37.4 J/(mol*K)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Tantalum Carbide (TaC): Tm = 4153 K, Cp(298 K) = 36.8 J/(mol*K)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Zirconium Diboride (ZrB2): Tm = 3523 K, Cp(298 K) = 48.2 J/(mol*K)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Ta4HfC5 Intermetallic: Tm ~ 4263 K, Cp(298 K) = 192 J/(mol*K)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Hypersonic Selection Findings: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Ablative Heat Sink Superiority: ZrB2 and HfB2 possess 3-atom unit cells yielding higher asymptotic molar heat capacity (3 * 3R = 9R) than mono-carbides (2 * 3R = 6R).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Enthalpy Absorption: Total enthalpy absorbed H(3000 K) - H(298 K) is over 2.5x greater in diborides, providing maximum thermal buffering in shock stagnation zones.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Oxidation Resistance: Forms self-healing B2O3 glass scale under aerodynamic shear.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[CASE-04]  Engineering Case Study 4: EV Battery Thermal Management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Heat capacity buffering against thermal runaway in lithium-ion cathodes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Cathode Chemistries Investigated: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LiCoO2 (LCO): Mobile consumer cathode, Cp(298 K) = 770 J/(kg*K)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LiFePO4 (LFP): High-safety olivine EV cathode, Cp(298 K) = 751 J/(kg*K)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NMC-811: High-energy EV cathode, Cp(298 K) = 980 J/(kg*K)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Li4Ti5O12 (LTO Anode): Fast-charging anode, Cp(298 K) = 838 J/(kg*K)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Thermal Safety Findings: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Thermal Runaway Resistance: LFP's phospho-olivine structure bonds oxygen strongly; stable Cp curve up to 700 K prevents exothermic self-heating.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Cooling Plate Sizing: Accurate Cp(T) temperature dependence allows sizing liquid cold plates to keep battery cells within optimum 25 - 35 C range.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Fast-Charging Thermal Buffering: High specific heat of NMC-811 buffers initial Joule heating surge during 4C fast-charge pulses before coolant pump reaches steady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[VAL-05]  Video Demonstration Storyboard &amp; Testing Verification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Screen recording sequence, browser verification, and export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Video Demonstration Storyboard: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• 0:00 - 0:45 | Platform Architecture: Overview of 230 materials across 8 classes and zero-dependency local execution.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• 0:45 - 1:30 | Material Selection: Live search for 'Copper' and 'Al2O3', category filtering, and active tag tray manipulation.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• 1:30 - 2:45 | Multi-Trace Plotting: Multi-class plotting, hover coordinate data tips, and unit switching to show Dulong-Petit asymptote.</a:t>
            </a:r>
          </a:p>
          <a:p>
            <a:pPr>
              <a:spcBef>
                <a:spcPts val="600"/>
              </a:spcBef>
              <a:defRPr sz="1050">
                <a:solidFill>
                  <a:srgbClr val="334155"/>
                </a:solidFill>
                <a:latin typeface="Calibri"/>
              </a:defRPr>
            </a:pPr>
            <a:r>
              <a:t>• 2:45 - 3:45 | Safety &amp; Ranking: Triggering extrapolation warning box, dynamic reference T slider ranking, and CSV data export.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Testing &amp; Verification Protocol: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Cross-Browser Testing: Verified on Chrome, Edge, Firefox, and Safari without script errors.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Numerical Precision: Verified against SciPy and NIST tables with &lt; 0.001% relative error.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Responsive Canvas: Auto-adjusts on 1080p, 4K, laptop, and tablet displays.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CSV Export Verification: Exported files validated for direct import into MATLAB and Excel.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766E"/>
                </a:solidFill>
                <a:latin typeface="Calibri"/>
              </a:defRPr>
            </a:pPr>
            <a:r>
              <a:t>[SUM-06]  Summary &amp; Individual Contribution Statement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Student 2: Computational GUI Architecture, Interactive Systems &amp;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Summary of Platform Outcomes: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Engineered an interactive, light-themed computational platform covering 230 verified materials.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Built standalone HTML5 canvas rendering engine with dynamic coordinate mapping and real-time hover data tips.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Implemented multi-unit conversion engine supporting 5 heat capacity units and Kelvin/Celsius toggling.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✔ Formulated 4 comprehensive industrial case studies analyzing aerospace alloys, thermal barriers, UHTCs, and battery materials.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Calibri"/>
              </a:defRPr>
            </a:pPr>
            <a:r>
              <a:t>Student 2 Specific Contributions &amp; Skills: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Web GUI &amp; Canvas Engineering: Developed the complete standalone HTML5/CSS3/JavaScript interface (`index.html`) and canvas plotting algorithms.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Streamlit Python Dashboard: Programmed the companion Streamlit application (`app.py`).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Interactive Feature Development: Coded search filters, active tag manager, dynamic ranking slider leaderboard, and CSV data export.</a:t>
            </a:r>
          </a:p>
          <a:p>
            <a:pPr>
              <a:spcBef>
                <a:spcPts val="700"/>
              </a:spcBef>
              <a:defRPr sz="1100">
                <a:solidFill>
                  <a:srgbClr val="334155"/>
                </a:solidFill>
                <a:latin typeface="Calibri"/>
              </a:defRPr>
            </a:pPr>
            <a:r>
              <a:t>• Engineering Case Studies &amp; Storyboard: Authored this presentation, formulated the 4 engineering case studies, and drafted the video walkthrough 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