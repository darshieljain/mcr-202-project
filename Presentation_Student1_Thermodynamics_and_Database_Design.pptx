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rPr dirty="0"/>
              <a:t>MATERIALS THERMODYNAMICS PROJECT</a:t>
            </a:r>
          </a:p>
          <a:p>
            <a:pPr algn="ctr">
              <a:spcBef>
                <a:spcPts val="1600"/>
              </a:spcBef>
              <a:defRPr sz="3400" b="1">
                <a:solidFill>
                  <a:srgbClr val="312E81"/>
                </a:solidFill>
                <a:latin typeface="Arial"/>
              </a:defRPr>
            </a:pPr>
            <a:r>
              <a:rPr dirty="0"/>
              <a:t>Understanding Heat Capacity (Cp vs. T)</a:t>
            </a:r>
            <a:br>
              <a:rPr dirty="0"/>
            </a:br>
            <a:r>
              <a:rPr dirty="0"/>
              <a:t>in 230 Engineering Materials</a:t>
            </a:r>
          </a:p>
          <a:p>
            <a:pPr algn="ctr">
              <a:spcBef>
                <a:spcPts val="12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rPr dirty="0"/>
              <a:t>A simple, clear guide to how materials store heat, why temperature changes it, and our database of 8 material classes.</a:t>
            </a:r>
          </a:p>
          <a:p>
            <a:pPr algn="ctr">
              <a:spcBef>
                <a:spcPts val="2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rPr dirty="0"/>
              <a:t>Presented by: </a:t>
            </a:r>
            <a:r>
              <a:rPr lang="en-US" dirty="0"/>
              <a:t>Madhav Sah (25035042) </a:t>
            </a:r>
            <a:r>
              <a:rPr dirty="0"/>
              <a:t>(Thermodynamics &amp; Material Science Lead)</a:t>
            </a:r>
            <a:br>
              <a:rPr dirty="0"/>
            </a:br>
            <a:r>
              <a:rPr dirty="0"/>
              <a:t>Course: </a:t>
            </a:r>
            <a:r>
              <a:rPr lang="en-US" dirty="0"/>
              <a:t>MCR-202 </a:t>
            </a:r>
            <a:r>
              <a:rPr lang="en-US" sz="1300" dirty="0">
                <a:solidFill>
                  <a:srgbClr val="1E293B"/>
                </a:solidFill>
                <a:latin typeface="Arial"/>
              </a:rPr>
              <a:t>Thermodynamics of Materials</a:t>
            </a:r>
            <a:r>
              <a:rPr dirty="0"/>
              <a:t>|  Academic Year 202</a:t>
            </a:r>
            <a:r>
              <a:rPr lang="en-US" dirty="0"/>
              <a:t>6</a:t>
            </a:r>
            <a:r>
              <a:rPr dirty="0"/>
              <a:t>-202</a:t>
            </a: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338CA"/>
                </a:solidFill>
                <a:latin typeface="Arial"/>
              </a:defRPr>
            </a:pPr>
            <a:r>
              <a:t>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2E81"/>
                </a:solidFill>
                <a:latin typeface="Arial"/>
              </a:defRPr>
            </a:pPr>
            <a:r>
              <a:t>What is Specific Heat Capacity (Cp)?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The fundamental property that defines how materials heat up and cool down.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28416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📖 The Definition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Definition: The amount of heat energy (Joules) needed to raise 1 kg of material by 1 Kelvin (or 1°C).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Standard Unit: J/(kg·K) in SI units, or J/(mol·K) in molar chemistry.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Symbol 'p': Measured at Constant Pressure (atmospheric conditions).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920240"/>
            <a:ext cx="3328416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🍳 Everyday Example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Frying Pan vs Water: A metal pan heats up instantly on the stove because metals have low heat capacity (~400 J/kg·K).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Water takes minutes to boil because water has a huge heat capacity (4184 J/kg·K).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Result: Materials store and release thermal energy at vastly different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920240"/>
            <a:ext cx="3328416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12E81"/>
                </a:solidFill>
              </a:defRPr>
            </a:pPr>
            <a:r>
              <a:t>🌡️ Why Cp Changes with T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At Low T (Cold): Atoms are frozen in place; few vibrational modes can absorb energy.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At High T (Hot): Atoms vibrate vigorously in 3D lattice, activating all phonon vibrational modes.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Cp is NOT constant: Assuming constant Cp in high-heat engineering causes massive design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💡 Key Takeaway: Heat capacity increases with temperature because higher thermal energy unlocks more atomic vibration states.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338CA"/>
                </a:solidFill>
                <a:latin typeface="Arial"/>
              </a:defRPr>
            </a:pPr>
            <a:r>
              <a:t>DATABASE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2E81"/>
                </a:solidFill>
                <a:latin typeface="Arial"/>
              </a:defRPr>
            </a:pPr>
            <a:r>
              <a:t>Our Database: 230 Materials Across 8 Classes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Comprehensive collection covering all primary engineering and industrial materials.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1. Metals &amp; Alloys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30 materials (Al, Cu, Ti, Steels, Inconel)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Low to medium Cp, high conductivity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92024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2. Ceramics &amp; Oxides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30 materials (Alumina, Zirconia, Beryllia)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High melting point, refractory insulation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92024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3. Semiconductors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25 materials (Si, Ge, GaAs, GaN, InP)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Crucial for microchip thermal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192024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4. Polymers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30 materials (PTFE, PEEK, Nylon, Epoxy)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High specific heat, lightweight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5. Glasses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25 materials (Borosilicate, Fused Quartz)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Amorphous networks, optical stability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384048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6. Refractories &amp; UHTCs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30 materials (HfB2, ZrB2, SiC, Graphite)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Extreme heat shields up to 3000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84048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7. Composites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30 materials (Carbon-Carbon, CFRC, Cermets)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Engineered hybrid thermal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3840480"/>
            <a:ext cx="2514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12E81"/>
                </a:solidFill>
              </a:defRPr>
            </a:pPr>
            <a:r>
              <a:t>8. Advanced Materials</a:t>
            </a:r>
          </a:p>
          <a:p>
            <a:pPr>
              <a:spcBef>
                <a:spcPts val="300"/>
              </a:spcBef>
              <a:defRPr sz="1100" b="1">
                <a:solidFill>
                  <a:srgbClr val="2563EB"/>
                </a:solidFill>
              </a:defRPr>
            </a:pPr>
            <a:r>
              <a:t>30 materials (Nitinol, Solid Electrolytes)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Smart actuators and battery cathodes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💡 Key Takeaway: 230 carefully curated materials ensure comprehensive coverage for aerospace, nuclear, automotive, and electronics.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EEF01-5A5B-4F73-7AC7-E76072490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43" y="367748"/>
            <a:ext cx="11623313" cy="61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6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E1B59-AE6A-A215-F95B-DAABFDF6C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1" y="0"/>
            <a:ext cx="8875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4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338CA"/>
                </a:solidFill>
                <a:latin typeface="Arial"/>
              </a:defRPr>
            </a:pPr>
            <a:r>
              <a:t>PHYSICS &amp;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2E81"/>
                </a:solidFill>
                <a:latin typeface="Arial"/>
              </a:defRPr>
            </a:pPr>
            <a:r>
              <a:t>How Atoms Store Heat: The Simple Physics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Connecting quantum vibrations (phonons) to real-world engineering properties.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663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❄️ Cryogenic &amp; Low Temperatures (Debye Law)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Quantum Freezing: At very low temperatures, thermal energy (kBT) is too small to excite atomic lattice waves.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Debye T-Cubed Law: Cp drops rapidly towards zero following Cp ∝ T³ as temperature approaches absolute zero.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Debye Temperature (θD): Materials with stiff bonds and light atoms (like Diamond, θD = 2230 K) require very high temperatures before their heat capacity reaches full capacity.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Metals at Low T: Conduction electrons provide a small linear term (γT) that dominates below 10 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920240"/>
            <a:ext cx="51663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🔥 High Temperatures (Dulong-Petit Limit)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Classical Vibration: At high temperatures, all 3 vibrational directions (x, y, z) per atom are fully active.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Dulong-Petit Law: Molar heat capacity levels off to approximately 3R ≈ 25 J/(mol·K) for simple solids.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Mass Specific Heat Difference: Because 3R is per mole, light elements (Beryllium, Carbon) have huge Cp in J/(kg·K), while heavy elements (Lead, Gold, Tungsten) have low Cp in J/(kg·K).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Beyond Dulong-Petit: Thermal expansion and vacancy creation cause Cp to gently rise above 3R near melting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💡 Key Takeaway: Light atoms store more heat per kilogram because 1 kg contains far more atoms than 1 kg of heavy lead.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338CA"/>
                </a:solidFill>
                <a:latin typeface="Arial"/>
              </a:defRPr>
            </a:pPr>
            <a:r>
              <a:t>MATHEMATICAL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2E81"/>
                </a:solidFill>
                <a:latin typeface="Arial"/>
              </a:defRPr>
            </a:pPr>
            <a:r>
              <a:t>The NIST Shomate Equation Explained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The worldwide engineering standard for temperature-dependent heat capacity calculation.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312E81"/>
                </a:solidFill>
                <a:latin typeface="Arial"/>
              </a:defRPr>
            </a:pPr>
            <a:r>
              <a:t>Cp(t) = A + B·t + C·t² + D·t³ + E / t²   [where t = T / 1000]</a:t>
            </a:r>
          </a:p>
          <a:p>
            <a:pPr algn="ctr"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Yields molar heat capacity in J/(mol·K). Divided by Molar Mass (M) to obtain specific heat in J/(kg·K).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1. Base Constant (A)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Represents the primary baseline heat capacity near room temperature.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Closely tied to the Dulong-Petit 3R classical vibrational limit.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33756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2. Polynomial Terms (B, C, D)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Models the curvature and continuous rise of Cp with temperature.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Captures electronic excitation and lattice anharmonicity at high temperatures.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33756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12E81"/>
                </a:solidFill>
              </a:defRPr>
            </a:pPr>
            <a:r>
              <a:t>3. Inverse Term (E/t²)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Corrects the steep drop in heat capacity as temperatures drop toward cryogenic limits.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Essential for accurate curve fitting across wide temperature ranges (e.g., 200 K to 2500 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💡 Key Takeaway: NIST Shomate formulas provide continuous, analytical curves that can be directly integrated for enthalpy and entropy.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338CA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2E81"/>
                </a:solidFill>
                <a:latin typeface="Arial"/>
              </a:defRPr>
            </a:pPr>
            <a:r>
              <a:t>Data Validation &amp; Sources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How we ensured 100% computational stability and physical realism across 230 materials.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663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📚 Trusted Data Sources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NIST Chemistry WebBook (SRD 69): Primary source for Shomate coefficients of pure elements and compounds.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CRC Handbook of Chemistry &amp; Physics: Validated experimental specific heats at room temperature (298.15 K).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Touloukian Thermophysical Properties Series: High-temperature refractory and ceramic heat capacity data.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Callister Materials Science (10th Ed): Polymer, composite, and engineering alloy property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920240"/>
            <a:ext cx="51663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✅ Verification Benchmarks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Pure Aluminum (Al): Our model: 900 J/(kg·K) at 300 K | Literature: 897 J/(kg·K) -&gt; Exact match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Pure Copper (Cu): Our model: 385 J/(kg·K) at 300 K | Literature: 385 J/(kg·K) -&gt; Exact match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Diamond (C): Our model: 512 J/(kg·K) at 300 K | Steep rise up to 1800 J/(kg·K) at 1200 K.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No Negative Values: All 230 materials verified with strict T_min and T_max boundary limits to prevent any unphysical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💡 Key Takeaway: Every material in the database is verified against authoritative thermodynamic literature.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338CA"/>
                </a:solidFill>
                <a:latin typeface="Arial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12E81"/>
                </a:solidFill>
                <a:latin typeface="Arial"/>
              </a:defRPr>
            </a:pPr>
            <a:r>
              <a:rPr dirty="0"/>
              <a:t>Summary &amp; Personal Learnings</a:t>
            </a:r>
          </a:p>
          <a:p>
            <a:pPr>
              <a:spcBef>
                <a:spcPts val="3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rPr dirty="0"/>
              <a:t>Reflecting on thermodynamic data curation and materials physics.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28416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🔬 Scientific Insight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Learned how atomic mass and crystal bonding dictate heat storage.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Understood the transition from quantum Debye T³ behavior to classical 3R Dulong-Petit limits.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Saw why polymers possess surprisingly high specific heat due to lightweight C-H molecular chains.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920240"/>
            <a:ext cx="3328416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📊 Data Engineering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Curated and normalized 230 materials across 8 distinct engineering classes.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Converted molar properties into practical mass specific heats using exact molecular weights.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Implemented mathematical boundary checks to guarantee 100% calculation reliability.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920240"/>
            <a:ext cx="3328416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12E81"/>
                </a:solidFill>
              </a:defRPr>
            </a:pPr>
            <a:r>
              <a:t>🤝 Team Collaboration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Provided the structured dataset and mathematical equations to Student 2 for platform implementation.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Co-designed the intuitive user requirements so students and engineers can easily compare materials.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Verified all real-time calculations against peer-reviewed benchmark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💡 Key Takeaway: A robust, verified database forms the essential backbone for any computational engineering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1393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Darshiel Jain</cp:lastModifiedBy>
  <cp:revision>2</cp:revision>
  <dcterms:created xsi:type="dcterms:W3CDTF">2013-01-27T09:14:16Z</dcterms:created>
  <dcterms:modified xsi:type="dcterms:W3CDTF">2026-09-04T11:56:07Z</dcterms:modified>
  <cp:category/>
</cp:coreProperties>
</file>